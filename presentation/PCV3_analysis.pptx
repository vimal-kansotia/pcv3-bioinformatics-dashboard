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FFFFFF"/>
                </a:solidFill>
              </a:defRPr>
            </a:pPr>
            <a:r>
              <a:t>Analysis of Genome Variation, Phylogenetic Relationships and Geographic/Temporal Patterns in Porcine Circovirus 3 (PCV3)</a:t>
            </a:r>
          </a:p>
          <a:p>
            <a:pPr>
              <a:spcAft>
                <a:spcPts val="2500"/>
              </a:spcAft>
              <a:defRPr sz="1800">
                <a:solidFill>
                  <a:srgbClr val="2980B9"/>
                </a:solidFill>
              </a:defRPr>
            </a:pPr>
            <a:r>
              <a:t>MSc Big Data Analytics — Bioinformatics &amp; Unsupervised Machine Learning Project</a:t>
            </a:r>
          </a:p>
          <a:p>
            <a:pPr>
              <a:defRPr sz="1400">
                <a:solidFill>
                  <a:srgbClr val="C8D6E5"/>
                </a:solidFill>
              </a:defRPr>
            </a:pPr>
            <a:r>
              <a:t>Student Practical Examination | Dataset: 500 PCV3 Complete Genomes | Tools: Biopython, MAFFT, IQ-TREE 3,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MSC BIG DATA ANALYTICS — PRACTICAL EXAMINATION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Problem Statement &amp; Biological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Biological Background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Porcine Circovirus 3 (PCV3) is an emerging circular ssDNA circovirus associated with porcine dermatitis, nephropathy syndrome (PDNS), and reproductive failure.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First identified in 2015–2016, PCV3 has rapidly been detected in swine herds globally.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Investigating whether PCV3 genomes exhibit distinct genomic subgroups and whether these subgroups correlate with geographical regions or collection years is vital for surveillance.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Analytical Problem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Identify genome-wide variations (SNPs, conserved vs. polymorphic positions) across 500 complete genomes.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Perform unsupervised dimensionality reduction (PCA) and clustering (K-Means) on genome-derived features without metadata bias.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Determine statistical associations between genome-based clusters and geographic location / sample year using rigorous permutation tests.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Evaluate phylogenetic tree structure to determine consistency with unsupervised genomic clusters.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MSC BIG DATA ANALYTICS — PRACTICAL EXAMINATION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Project Objectives &amp; Technical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1. Bioinformatic QC &amp; Alignment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Inspect FASTA sequences and Excel metadata.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Perform sequence quality control (lengths, GC%, ambiguous bases).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Perform Multiple Sequence Alignment (MAFFT).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Identify conserved, variable, and parsimony-informative positions.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2. Unsupervised ML Pipeline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Extract one-hot binary SNP matrix (genome features only).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Compute PCA (explained variance, PC1 vs PC2).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Evaluate K-Means clustering ($k=2..10$) using Silhouette scores.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Isolate metadata from feature extraction to prevent data leakage.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371600"/>
            <a:ext cx="3291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3. Statistical &amp; Phylogenetic Evaluation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Construct Cluster x Country and Cluster x Year contingency tables.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Run Chi-square permutation tests &amp; calculate Cramér's V.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Construct Maximum Likelihood tree (IQ-TREE 3 ModelFinder: GTR+F+I+G4, 1000 UFBoot).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Derive evidence-based findings while avoiding causal overclaims.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MSC BIG DATA ANALYTICS — PRACTICAL EXAMINATION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Input Data Audit &amp; Metadata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Input Files Validation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viral_genome.fasta: 500 complete genomes (~2,000 bp). Header format: &lt;Accession&gt;_&lt;Country&gt;_&lt;Year&gt;.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accessions.csv.xlsx: 500 metadata rows with columns 'accession ' and 'Region '.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Audit Result: Direct index matching matched only 22/500 rows. Key-based accession matching resolved records cleanly.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No raw files were modified or deleted.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Metadata Provenance Categorization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Excel_Verified (474 records): Accession and country matched Excel without conflict.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Geography_Conflict_Excel (16 records): Accession matched Excel, but Excel contained conflicting regions (e.g. Spain vs Poland). Flagged explicitly.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FASTA_Header_Only (10 records): Accession absent from Excel sheet; metadata derived directly from FASTA header.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No metadata values were fabricated or silently overwritten.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MSC BIG DATA ANALYTICS — PRACTICAL EXAMINATION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End-to-End Bioinformatics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Sequential Analysis Workflow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1: Input Data Inspection (FASTA &amp; Excel integrity verification)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2: Master Metadata Construction (Provenance flagging: Excel_Verified, Geography_Conflict, FASTA_Header_Only)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3: Sequence Quality Control (Length distribution, GC content, ambiguous base filtering)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4: Multiple Sequence Alignment (MAFFT alignment to 2,156 bp)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5: Genome Variation &amp; SNP Extraction (Identification of 890 variable sites, 466 parsimony-informative)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6: Feature Extraction (Primary: 2,067 binary SNP features | Supplementary: 256 k-mer features)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7 &amp; 8: PCA &amp; K-Means Clustering (Standardized mean-centering, PC variance ratio, Silhouette evaluation for k=7)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9 &amp; 10: Statistical Association (Chi-square permutation tests, Cramér's V, expected count diagnostics)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Phase 11 &amp; 12: Phylogenetics &amp; Distance Heatmap (IQ-TREE 3 ModelFinder GTR+F+I+G4, 1000 UFBoot, evaluating tree-cluster consistency)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3 — 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Sequence Quality Control (Length &amp; GC Content)</a:t>
            </a:r>
          </a:p>
        </p:txBody>
      </p:sp>
      <p:pic>
        <p:nvPicPr>
          <p:cNvPr id="4" name="Picture 3" descr="fig01_sequence_lengt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257550"/>
          </a:xfrm>
          <a:prstGeom prst="rect">
            <a:avLst/>
          </a:prstGeom>
        </p:spPr>
      </p:pic>
      <p:pic>
        <p:nvPicPr>
          <p:cNvPr id="5" name="Picture 4" descr="fig02_gc_conte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3 — METADATA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Geographic &amp; Temporal Metadata Distribution</a:t>
            </a:r>
          </a:p>
        </p:txBody>
      </p:sp>
      <p:pic>
        <p:nvPicPr>
          <p:cNvPr id="4" name="Picture 3" descr="fig03_samples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127248"/>
          </a:xfrm>
          <a:prstGeom prst="rect">
            <a:avLst/>
          </a:prstGeom>
        </p:spPr>
      </p:pic>
      <p:pic>
        <p:nvPicPr>
          <p:cNvPr id="5" name="Picture 4" descr="fig04_samples_by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4 — ALIGNMENT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Multiple Sequence Alignment (MAFFT)</a:t>
            </a:r>
          </a:p>
        </p:txBody>
      </p:sp>
      <p:pic>
        <p:nvPicPr>
          <p:cNvPr id="4" name="Picture 3" descr="fig05_msa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543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37160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MAFFT Alignment Summary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Alignment length: 2,156 bp across all 500 sequences.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Conserved Positions: 1,266 bp (58.72% of genome).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Variable / Polymorphic Sites: 890 bp (41.28%).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Parsimony-Informative Sites: 466 bp (21.61%).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Overall gap percentage: 7.24% across alignment matrix.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5 — VARIATION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Genome Variation &amp; SNP Density Analysis</a:t>
            </a:r>
          </a:p>
        </p:txBody>
      </p:sp>
      <p:pic>
        <p:nvPicPr>
          <p:cNvPr id="4" name="Picture 3" descr="fig06_variable_sites_snp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2834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37160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SNP Density &amp; Variant Summary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Identified 890 variable positions across PCV3 alignment.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SNP density analyzed in 50 bp sliding windows.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Highest variation observed in specific genomic regions corresponding to viral capsid (Cap) and replicase (Rep) genes.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All 890 variable positions exported to table01_snp_positions_summary.csv for downstream feature extraction.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6 —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Genome-Derived Feature Extraction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Primary Feature Matrix (SNP Matrix)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One-Hot / Binary encoding of 890 aligned variable nucleotide positions across all 500 sequences.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Feature Expansion: 890 variable positions produce 2,067 binary features due to one-hot encoding of non-constant nucleotide states (A, C, G, T) per site.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Captures exact nucleotide substitution patterns at every variable genomic locus.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Used as the PRIMARY input matrix for PCA and K-Means clustering.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Supplementary k=4 K-mer Matrix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Extracted 256 k-mer tetranucleotide frequencies (k=4) normalized by sequence length.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Provides alignment-free complementary feature representation.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Strict Isolation: Country, Region, and Year were STRICTLY EXCLUDED from feature matrices to prevent metadata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7 — DIMENSIONALITY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Principal Component Analysis (PCA)</a:t>
            </a:r>
          </a:p>
        </p:txBody>
      </p:sp>
      <p:pic>
        <p:nvPicPr>
          <p:cNvPr id="4" name="Picture 3" descr="fig07_pca_explained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257550"/>
          </a:xfrm>
          <a:prstGeom prst="rect">
            <a:avLst/>
          </a:prstGeom>
        </p:spPr>
      </p:pic>
      <p:pic>
        <p:nvPicPr>
          <p:cNvPr id="5" name="Picture 4" descr="fig08_pca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8 — UNSUPERVISED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K-Means Clustering &amp; Silhouette Evaluation</a:t>
            </a:r>
          </a:p>
        </p:txBody>
      </p:sp>
      <p:pic>
        <p:nvPicPr>
          <p:cNvPr id="4" name="Picture 3" descr="fig10_silhouett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257550"/>
          </a:xfrm>
          <a:prstGeom prst="rect">
            <a:avLst/>
          </a:prstGeom>
        </p:spPr>
      </p:pic>
      <p:pic>
        <p:nvPicPr>
          <p:cNvPr id="5" name="Picture 4" descr="fig11_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9 — GEOGRAPHICAL ASSOCIATION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Cluster vs. Geographical Location Association</a:t>
            </a:r>
          </a:p>
        </p:txBody>
      </p:sp>
      <p:pic>
        <p:nvPicPr>
          <p:cNvPr id="4" name="Picture 3" descr="fig12_cluster_count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4015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37160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Geographical Statistical Test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Constructed 7 x 9 Cluster x Country contingency table.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Chi-square Statistic: 525.36 (dof = 48).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Asymptotic p-value: 1.56e-81.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Monte Carlo Permutation p-value (5,000 perms): p = 0.0002.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Cramér's V = 0.4185 (Strong geographical association).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Diagnostics: 50.8% of cells had expected count &lt; 5; permutation test confirms validity.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Caution: Statistical association does NOT prove geographical transmission routes, origin, or causal divergence.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10 — TEMPORAL ASSOCIATION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Cluster vs. Collection Year Association</a:t>
            </a:r>
          </a:p>
        </p:txBody>
      </p:sp>
      <p:pic>
        <p:nvPicPr>
          <p:cNvPr id="4" name="Picture 3" descr="fig13_cluster_ye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3779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37160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Temporal Association Test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Grouped collection years into 4 temporal bins (&lt;2015, 2015-17, 2018-20, 2021-25).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Chi-square Statistic: 145.50 (dof = 18).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Asymptotic p-value: 5.54e-22.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Monte Carlo Permutation p-value (5,000 perms): p = 0.0002.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Cramér's V = 0.3114 (Moderate-to-strong temporal association).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Temporal grouping prevents sparse cell count distortions.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Caution: Statistical association does NOT prove temporal origin or molecular clock evolutionary rates.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11 &amp; 12 — PHYLOGENETICS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Maximum Likelihood Phylogenetic Tree (IQ-TREE 3)</a:t>
            </a:r>
          </a:p>
        </p:txBody>
      </p:sp>
      <p:pic>
        <p:nvPicPr>
          <p:cNvPr id="4" name="Picture 3" descr="fig14_phylo_tree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4343400"/>
          </a:xfrm>
          <a:prstGeom prst="rect">
            <a:avLst/>
          </a:prstGeom>
        </p:spPr>
      </p:pic>
      <p:pic>
        <p:nvPicPr>
          <p:cNvPr id="5" name="Picture 4" descr="fig15_phylo_tree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13 — GENETIC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Pairwise Genetic Distance Heatmap</a:t>
            </a:r>
          </a:p>
        </p:txBody>
      </p:sp>
      <p:pic>
        <p:nvPicPr>
          <p:cNvPr id="4" name="Picture 3" descr="fig16_genetic_dist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4535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37160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Genetic Distance Metrics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Computed pairwise nucleotide p-distances across aligned PCV3 genomes.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Mean Pairwise Distance: 0.0117 (1.17% mean nucleotide divergence).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Max Pairwise Distance: 0.0489 (4.89% maximum divergence).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High sequence conservation observed across global PCV3 isolates, consistent with single-stranded circular circovirus genomes.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PHASE 14 — INTEGRATED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Integrated Synthesis &amp; Study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Integrated Findings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Genome Variation: 890 variable sites define PCV3 genomic divergence.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Unsupervised Grouping: PCA and K-Means Silhouette analysis identify 7 distinct genomic clusters.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Geographic &amp; Temporal Trends: Clusters display strong statistical association with country (V=0.4185) and temporal period (V=0.3114).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Phylogenetic Consistency: The phylogenetic tree structure was broadly consistent with the K-Means genomic clustering patterns.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Study Limitations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Sampling Imbalance: High sample counts from China (117), USA (69), Spain (57), South Korea (51) vs single isolates from Sweden/Mexico.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Metadata Inconsistencies: 16 records in Excel had conflicting regions (Spain vs Poland); 10 were absent from Excel.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Causality Constraint: Statistical association does NOT prove geographical transmission routes, origin, or functional virulence alterations.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C"/>
                </a:solidFill>
              </a:defRPr>
            </a:pPr>
            <a:r>
              <a:t>Conclusion &amp; Key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Summary Conclusions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PCV3 maintains a highly conserved circular genome (1.17% mean divergence) with clear SNP-defined sublineages.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Unsupervised ML successfully partitions genomic variation without metadata bias.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Observed sequence patterns are significantly associated with geographical location and collection year.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Complete pipeline and figures are fully reproducible.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1A2B4C"/>
                </a:solidFill>
              </a:defRPr>
            </a:pPr>
            <a:r>
              <a:t>Key References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Phan TG, et al. (2016). Detection of a novel circovirus PCV3 in pigs with cardiac and multi-systemic inflammation. Virology.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Stadejek T, et al. (2020). Global transcriptional and phylogenetic analysis of PCV3. PLOS ONE.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Franzo G, et al. (2020). Porcine circovirus 3 phylodynamics and evolutionary rate. Scientific Reports.</a:t>
            </a:r>
          </a:p>
          <a:p>
            <a:pPr>
              <a:spcBef>
                <a:spcPts val="600"/>
              </a:spcBef>
              <a:defRPr sz="1300">
                <a:solidFill>
                  <a:srgbClr val="2C3E50"/>
                </a:solidFill>
              </a:defRPr>
            </a:pPr>
            <a:r>
              <a:t>• Minh BQ, et al. (2020). IQ-TREE 2: New models and efficient algorithms for phylogenomics. Mol Biol Evol.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